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762000" y="2032000"/>
            <a:ext cx="10668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4000" b="true">
                <a:solidFill>
                  <a:srgbClr val="FFFFFF"/>
                </a:solidFill>
              </a:rPr>
              <a:t>食堂管理系统数据报告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62000" y="3810000"/>
            <a:ext cx="1066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1800">
                <a:solidFill>
                  <a:srgbClr val="BDD7EE"/>
                </a:solidFill>
              </a:rPr>
              <a:t>生成时间：2026-03-14 19:19:20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1"/>
          </a:solidFill>
          <a:ln>
            <a:solidFill>
              <a:srgbClr val="ECF0F1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81000" y="127000"/>
            <a:ext cx="1143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600" b="true">
                <a:solidFill>
                  <a:srgbClr val="FFFFFF"/>
                </a:solidFill>
              </a:rPr>
              <a:t>数据概览</a:t>
            </a:r>
          </a:p>
        </p:txBody>
      </p:sp>
      <p:sp>
        <p:nvSpPr>
          <p:cNvPr name="AutoShape 5" id="5"/>
          <p:cNvSpPr/>
          <p:nvPr/>
        </p:nvSpPr>
        <p:spPr>
          <a:xfrm>
            <a:off x="762000" y="1778000"/>
            <a:ext cx="2413000" cy="2540000"/>
          </a:xfrm>
          <a:prstGeom prst="rect">
            <a:avLst/>
          </a:prstGeom>
          <a:solidFill>
            <a:srgbClr val="FFFFFF"/>
          </a:solidFill>
          <a:ln>
            <a:solidFill>
              <a:srgbClr val="BDC3C7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762000" y="2286000"/>
            <a:ext cx="2413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3600" b="true">
                <a:solidFill>
                  <a:srgbClr val="2980B9"/>
                </a:solidFill>
              </a:rPr>
              <a:t>404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62000" y="3429000"/>
            <a:ext cx="2413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1600">
                <a:solidFill>
                  <a:srgbClr val="2C3E50"/>
                </a:solidFill>
              </a:rPr>
              <a:t>用户总数</a:t>
            </a:r>
          </a:p>
        </p:txBody>
      </p:sp>
      <p:sp>
        <p:nvSpPr>
          <p:cNvPr name="AutoShape 8" id="8"/>
          <p:cNvSpPr/>
          <p:nvPr/>
        </p:nvSpPr>
        <p:spPr>
          <a:xfrm>
            <a:off x="3429000" y="1778000"/>
            <a:ext cx="2413000" cy="2540000"/>
          </a:xfrm>
          <a:prstGeom prst="rect">
            <a:avLst/>
          </a:prstGeom>
          <a:solidFill>
            <a:srgbClr val="FFFFFF"/>
          </a:solidFill>
          <a:ln>
            <a:solidFill>
              <a:srgbClr val="BDC3C7"/>
            </a:solidFill>
          </a:ln>
        </p:spPr>
      </p:sp>
      <p:sp>
        <p:nvSpPr>
          <p:cNvPr name="TextBox 9" id="9"/>
          <p:cNvSpPr txBox="true"/>
          <p:nvPr/>
        </p:nvSpPr>
        <p:spPr>
          <a:xfrm>
            <a:off x="3429000" y="2286000"/>
            <a:ext cx="2413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3600" b="true">
                <a:solidFill>
                  <a:srgbClr val="2980B9"/>
                </a:solidFill>
              </a:rPr>
              <a:t>6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3429000" y="3429000"/>
            <a:ext cx="2413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1600">
                <a:solidFill>
                  <a:srgbClr val="2C3E50"/>
                </a:solidFill>
              </a:rPr>
              <a:t>美食总数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096000" y="1778000"/>
            <a:ext cx="2413000" cy="2540000"/>
          </a:xfrm>
          <a:prstGeom prst="rect">
            <a:avLst/>
          </a:prstGeom>
          <a:solidFill>
            <a:srgbClr val="FFFFFF"/>
          </a:solidFill>
          <a:ln>
            <a:solidFill>
              <a:srgbClr val="BDC3C7"/>
            </a:solidFill>
          </a:ln>
        </p:spPr>
      </p:sp>
      <p:sp>
        <p:nvSpPr>
          <p:cNvPr name="TextBox 12" id="12"/>
          <p:cNvSpPr txBox="true"/>
          <p:nvPr/>
        </p:nvSpPr>
        <p:spPr>
          <a:xfrm>
            <a:off x="6096000" y="2286000"/>
            <a:ext cx="2413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3600" b="true">
                <a:solidFill>
                  <a:srgbClr val="2980B9"/>
                </a:solidFill>
              </a:rPr>
              <a:t>22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6096000" y="3429000"/>
            <a:ext cx="2413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1600">
                <a:solidFill>
                  <a:srgbClr val="2C3E50"/>
                </a:solidFill>
              </a:rPr>
              <a:t>评论总数</a:t>
            </a:r>
          </a:p>
        </p:txBody>
      </p:sp>
      <p:sp>
        <p:nvSpPr>
          <p:cNvPr name="AutoShape 14" id="14"/>
          <p:cNvSpPr/>
          <p:nvPr/>
        </p:nvSpPr>
        <p:spPr>
          <a:xfrm>
            <a:off x="8763000" y="1778000"/>
            <a:ext cx="2413000" cy="2540000"/>
          </a:xfrm>
          <a:prstGeom prst="rect">
            <a:avLst/>
          </a:prstGeom>
          <a:solidFill>
            <a:srgbClr val="FFFFFF"/>
          </a:solidFill>
          <a:ln>
            <a:solidFill>
              <a:srgbClr val="BDC3C7"/>
            </a:solidFill>
          </a:ln>
        </p:spPr>
      </p:sp>
      <p:sp>
        <p:nvSpPr>
          <p:cNvPr name="TextBox 15" id="15"/>
          <p:cNvSpPr txBox="true"/>
          <p:nvPr/>
        </p:nvSpPr>
        <p:spPr>
          <a:xfrm>
            <a:off x="8763000" y="2286000"/>
            <a:ext cx="2413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3600" b="true">
                <a:solidFill>
                  <a:srgbClr val="2980B9"/>
                </a:solidFill>
              </a:rPr>
              <a:t>8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8763000" y="3429000"/>
            <a:ext cx="2413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ctr"/>
            <a:r>
              <a:rPr lang="en-US" sz="1600">
                <a:solidFill>
                  <a:srgbClr val="2C3E50"/>
                </a:solidFill>
              </a:rPr>
              <a:t>帖子总数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1"/>
          </a:solidFill>
          <a:ln>
            <a:solidFill>
              <a:srgbClr val="ECF0F1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81000" y="127000"/>
            <a:ext cx="1143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600" b="true">
                <a:solidFill>
                  <a:srgbClr val="FFFFFF"/>
                </a:solidFill>
              </a:rPr>
              <a:t>评分最高的美食 Top 5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62000" y="1651000"/>
            <a:ext cx="762000" cy="4572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true">
                <a:solidFill>
                  <a:srgbClr val="FFFFFF"/>
                </a:solidFill>
              </a:rPr>
              <a:t>排名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1651000" y="1651000"/>
            <a:ext cx="4318000" cy="4572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true">
                <a:solidFill>
                  <a:srgbClr val="FFFFFF"/>
                </a:solidFill>
              </a:rPr>
              <a:t>名称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6096000" y="1651000"/>
            <a:ext cx="1397000" cy="4572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true">
                <a:solidFill>
                  <a:srgbClr val="FFFFFF"/>
                </a:solidFill>
              </a:rPr>
              <a:t>评分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7620000" y="1651000"/>
            <a:ext cx="1651000" cy="4572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true">
                <a:solidFill>
                  <a:srgbClr val="FFFFFF"/>
                </a:solidFill>
              </a:rPr>
              <a:t>评价人数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9398000" y="1651000"/>
            <a:ext cx="1397000" cy="4572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true">
                <a:solidFill>
                  <a:srgbClr val="FFFFFF"/>
                </a:solidFill>
              </a:rPr>
              <a:t>价格(元)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762000" y="2159000"/>
            <a:ext cx="762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1651000" y="2159000"/>
            <a:ext cx="4318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红烧肉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6096000" y="2159000"/>
            <a:ext cx="1397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5.0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7620000" y="2159000"/>
            <a:ext cx="1651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9398000" y="2159000"/>
            <a:ext cx="1397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38.00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762000" y="2667000"/>
            <a:ext cx="762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1651000" y="2667000"/>
            <a:ext cx="4318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糖醋排骨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6096000" y="2667000"/>
            <a:ext cx="1397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5.0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7620000" y="2667000"/>
            <a:ext cx="1651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9398000" y="2667000"/>
            <a:ext cx="1397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45.00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762000" y="3175000"/>
            <a:ext cx="762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1651000" y="3175000"/>
            <a:ext cx="4318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麻辣香锅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6096000" y="3175000"/>
            <a:ext cx="1397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5.0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7620000" y="3175000"/>
            <a:ext cx="1651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9398000" y="3175000"/>
            <a:ext cx="1397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52.00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762000" y="3683000"/>
            <a:ext cx="762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4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1651000" y="3683000"/>
            <a:ext cx="4318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凉皮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6096000" y="3683000"/>
            <a:ext cx="1397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4.0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7620000" y="3683000"/>
            <a:ext cx="1651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9398000" y="3683000"/>
            <a:ext cx="1397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6.00</a:t>
            </a:r>
          </a:p>
        </p:txBody>
      </p:sp>
      <p:sp>
        <p:nvSpPr>
          <p:cNvPr name="TextBox 30" id="30"/>
          <p:cNvSpPr txBox="true"/>
          <p:nvPr/>
        </p:nvSpPr>
        <p:spPr>
          <a:xfrm>
            <a:off x="762000" y="4191000"/>
            <a:ext cx="762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5</a:t>
            </a:r>
          </a:p>
        </p:txBody>
      </p:sp>
      <p:sp>
        <p:nvSpPr>
          <p:cNvPr name="TextBox 31" id="31"/>
          <p:cNvSpPr txBox="true"/>
          <p:nvPr/>
        </p:nvSpPr>
        <p:spPr>
          <a:xfrm>
            <a:off x="1651000" y="4191000"/>
            <a:ext cx="4318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扬州炒饭</a:t>
            </a:r>
          </a:p>
        </p:txBody>
      </p:sp>
      <p:sp>
        <p:nvSpPr>
          <p:cNvPr name="TextBox 32" id="32"/>
          <p:cNvSpPr txBox="true"/>
          <p:nvPr/>
        </p:nvSpPr>
        <p:spPr>
          <a:xfrm>
            <a:off x="6096000" y="4191000"/>
            <a:ext cx="1397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4.0</a:t>
            </a:r>
          </a:p>
        </p:txBody>
      </p:sp>
      <p:sp>
        <p:nvSpPr>
          <p:cNvPr name="TextBox 33" id="33"/>
          <p:cNvSpPr txBox="true"/>
          <p:nvPr/>
        </p:nvSpPr>
        <p:spPr>
          <a:xfrm>
            <a:off x="7620000" y="4191000"/>
            <a:ext cx="1651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1</a:t>
            </a:r>
          </a:p>
        </p:txBody>
      </p:sp>
      <p:sp>
        <p:nvSpPr>
          <p:cNvPr name="TextBox 34" id="34"/>
          <p:cNvSpPr txBox="true"/>
          <p:nvPr/>
        </p:nvSpPr>
        <p:spPr>
          <a:xfrm>
            <a:off x="9398000" y="4191000"/>
            <a:ext cx="1397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18.00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1"/>
          </a:solidFill>
          <a:ln>
            <a:solidFill>
              <a:srgbClr val="ECF0F1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81000" y="127000"/>
            <a:ext cx="1143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600" b="true">
                <a:solidFill>
                  <a:srgbClr val="FFFFFF"/>
                </a:solidFill>
              </a:rPr>
              <a:t>最新帖子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381000" y="1651000"/>
            <a:ext cx="1524000" cy="4572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true">
                <a:solidFill>
                  <a:srgbClr val="FFFFFF"/>
                </a:solidFill>
              </a:rPr>
              <a:t>帖子ID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2032000" y="1651000"/>
            <a:ext cx="5715000" cy="4572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true">
                <a:solidFill>
                  <a:srgbClr val="FFFFFF"/>
                </a:solidFill>
              </a:rPr>
              <a:t>内容摘要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874000" y="1651000"/>
            <a:ext cx="889000" cy="4572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true">
                <a:solidFill>
                  <a:srgbClr val="FFFFFF"/>
                </a:solidFill>
              </a:rPr>
              <a:t>点赞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8890000" y="1651000"/>
            <a:ext cx="1016000" cy="4572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true">
                <a:solidFill>
                  <a:srgbClr val="FFFFFF"/>
                </a:solidFill>
              </a:rPr>
              <a:t>评论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10033000" y="1651000"/>
            <a:ext cx="1270000" cy="457200"/>
          </a:xfrm>
          <a:prstGeom prst="rect">
            <a:avLst/>
          </a:prstGeom>
          <a:solidFill>
            <a:srgbClr val="2980B9"/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true">
                <a:solidFill>
                  <a:srgbClr val="FFFFFF"/>
                </a:solidFill>
              </a:rPr>
              <a:t>状态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381000" y="2159000"/>
            <a:ext cx="1524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203277138826..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2032000" y="2159000"/>
            <a:ext cx="5715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ccccccccccccccccccccccc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7874000" y="2159000"/>
            <a:ext cx="889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8890000" y="2159000"/>
            <a:ext cx="1016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10033000" y="2159000"/>
            <a:ext cx="1270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381000" y="2667000"/>
            <a:ext cx="1524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203277012136..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2032000" y="2667000"/>
            <a:ext cx="5715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vvvvvvvv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7874000" y="2667000"/>
            <a:ext cx="889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8890000" y="2667000"/>
            <a:ext cx="1016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10033000" y="2667000"/>
            <a:ext cx="1270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381000" y="3175000"/>
            <a:ext cx="1524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203276996873..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2032000" y="3175000"/>
            <a:ext cx="5715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hhhhhh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7874000" y="3175000"/>
            <a:ext cx="889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8890000" y="3175000"/>
            <a:ext cx="1016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24" id="24"/>
          <p:cNvSpPr txBox="true"/>
          <p:nvPr/>
        </p:nvSpPr>
        <p:spPr>
          <a:xfrm>
            <a:off x="10033000" y="3175000"/>
            <a:ext cx="1270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381000" y="3683000"/>
            <a:ext cx="1524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203275599117..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2032000" y="3683000"/>
            <a:ext cx="5715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S</a:t>
            </a:r>
          </a:p>
        </p:txBody>
      </p:sp>
      <p:sp>
        <p:nvSpPr>
          <p:cNvPr name="TextBox 27" id="27"/>
          <p:cNvSpPr txBox="true"/>
          <p:nvPr/>
        </p:nvSpPr>
        <p:spPr>
          <a:xfrm>
            <a:off x="7874000" y="3683000"/>
            <a:ext cx="889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28" id="28"/>
          <p:cNvSpPr txBox="true"/>
          <p:nvPr/>
        </p:nvSpPr>
        <p:spPr>
          <a:xfrm>
            <a:off x="8890000" y="3683000"/>
            <a:ext cx="1016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10033000" y="3683000"/>
            <a:ext cx="1270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approved</a:t>
            </a:r>
          </a:p>
        </p:txBody>
      </p:sp>
      <p:sp>
        <p:nvSpPr>
          <p:cNvPr name="TextBox 30" id="30"/>
          <p:cNvSpPr txBox="true"/>
          <p:nvPr/>
        </p:nvSpPr>
        <p:spPr>
          <a:xfrm>
            <a:off x="381000" y="4191000"/>
            <a:ext cx="1524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203275578147..</a:t>
            </a:r>
          </a:p>
        </p:txBody>
      </p:sp>
      <p:sp>
        <p:nvSpPr>
          <p:cNvPr name="TextBox 31" id="31"/>
          <p:cNvSpPr txBox="true"/>
          <p:nvPr/>
        </p:nvSpPr>
        <p:spPr>
          <a:xfrm>
            <a:off x="2032000" y="4191000"/>
            <a:ext cx="5715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LSAD</a:t>
            </a:r>
          </a:p>
        </p:txBody>
      </p:sp>
      <p:sp>
        <p:nvSpPr>
          <p:cNvPr name="TextBox 32" id="32"/>
          <p:cNvSpPr txBox="true"/>
          <p:nvPr/>
        </p:nvSpPr>
        <p:spPr>
          <a:xfrm>
            <a:off x="7874000" y="4191000"/>
            <a:ext cx="889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33" id="33"/>
          <p:cNvSpPr txBox="true"/>
          <p:nvPr/>
        </p:nvSpPr>
        <p:spPr>
          <a:xfrm>
            <a:off x="8890000" y="4191000"/>
            <a:ext cx="1016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0</a:t>
            </a:r>
          </a:p>
        </p:txBody>
      </p:sp>
      <p:sp>
        <p:nvSpPr>
          <p:cNvPr name="TextBox 34" id="34"/>
          <p:cNvSpPr txBox="true"/>
          <p:nvPr/>
        </p:nvSpPr>
        <p:spPr>
          <a:xfrm>
            <a:off x="10033000" y="4191000"/>
            <a:ext cx="1270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300" b="false">
                <a:solidFill>
                  <a:srgbClr val="2C3E50"/>
                </a:solidFill>
              </a:rPr>
              <a:t>approved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